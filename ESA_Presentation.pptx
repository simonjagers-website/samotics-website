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Electrical Data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Operational Intelligence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Signature Analysis for Large-Scale Pump Monitoring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374904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Samotics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0" y="457200"/>
            <a:ext cx="54864" cy="420624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Facing Modern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Operators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energy, water and industrial networks: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653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are geographically distributed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5511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assets are submerged, inaccessible or hazardous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15468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2369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incomplete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92277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remains reactive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9200" y="1280160"/>
            <a:ext cx="3657600" cy="32918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029200" y="1280160"/>
            <a:ext cx="64008" cy="3291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5544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978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1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24028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97880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failures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288036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89788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352044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897880" y="3474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60320" cy="192024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099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Electrification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increasing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assets are electrically driven than ever before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417320"/>
            <a:ext cx="2560320" cy="192024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60020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7099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VFD adoption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accelerating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frequency drives add complexity and data richness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417320"/>
            <a:ext cx="2560320" cy="192024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160020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7099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Electrical infra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connects everything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electrical network already reaches every machine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74904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136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7490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electrical network becomes the natural sensing layer of the industrial system.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Visibility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typically face three monitoring realities: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50292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assets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assets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monitored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assets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unmonitored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417320"/>
            <a:ext cx="2560320" cy="2468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417320"/>
            <a:ext cx="64008" cy="2468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92240" y="22860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tail often represents the majority of operational risk.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Monitoring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approaches rely 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33172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41401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31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inspections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2926080"/>
            <a:ext cx="384048" cy="38404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0083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26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46320" y="1280160"/>
            <a:ext cx="3840480" cy="26517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46320" y="1280160"/>
            <a:ext cx="64008" cy="2651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1"/>
          <p:cNvSpPr/>
          <p:nvPr/>
        </p:nvSpPr>
        <p:spPr>
          <a:xfrm>
            <a:off x="52120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6596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cost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42316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692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constraints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88036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6928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environments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337560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6692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overhead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network-scale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Approach: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Electrical Signature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extracts operational information from the existing electrical supply.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749040" cy="105156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671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Sensorless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3957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sensors required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3749040" cy="105156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05740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1671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Non-invasive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23957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interruption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108960"/>
            <a:ext cx="3749040" cy="105156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33756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4728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2186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asset modification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675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equipment as-is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749040" cy="105156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33756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4472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2186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Suitable for inaccessible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675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Submerged, hazardous, remote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electrically driven asset already generates the data needed.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ESA Can Detect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identifies both asset health and process behaviour: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2926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Mechanical Faults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40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degradation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432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imbalance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4612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issues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754880" y="141732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754880" y="1417320"/>
            <a:ext cx="64008" cy="2926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6459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235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Hydraulic / Process</a:t>
            </a:r>
            <a:endParaRPr lang="en-US" sz="16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24028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321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Blockages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74320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3212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Ragging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246120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5321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flow patterns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374904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53212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load conditions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provides earlier insight than conventional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Operational Transformation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enables a shift from: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Operations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ESA-Enabled 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74720" cy="438912"/>
          </a:xfrm>
          <a:prstGeom prst="rect">
            <a:avLst/>
          </a:prstGeom>
          <a:solidFill>
            <a:srgbClr val="1A1520">
              <a:alpha val="5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74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27432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1874520"/>
            <a:ext cx="3474720" cy="438912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96596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874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intervention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2423160"/>
            <a:ext cx="3474720" cy="438912"/>
          </a:xfrm>
          <a:prstGeom prst="rect">
            <a:avLst/>
          </a:prstGeom>
          <a:solidFill>
            <a:srgbClr val="1A1520">
              <a:alpha val="50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1460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2423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514600"/>
            <a:ext cx="274320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029200" y="2423160"/>
            <a:ext cx="3474720" cy="438912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51460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69280" y="2423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40080" y="2971800"/>
            <a:ext cx="3474720" cy="438912"/>
          </a:xfrm>
          <a:prstGeom prst="rect">
            <a:avLst/>
          </a:prstGeom>
          <a:solidFill>
            <a:srgbClr val="1A1520">
              <a:alpha val="50000"/>
            </a:srgbClr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06324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80160" y="2971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visibility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3063240"/>
            <a:ext cx="274320" cy="2286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5029200" y="2971800"/>
            <a:ext cx="3474720" cy="438912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063240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669280" y="2971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visibility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640080" y="3520440"/>
            <a:ext cx="3474720" cy="438912"/>
          </a:xfrm>
          <a:prstGeom prst="rect">
            <a:avLst/>
          </a:prstGeom>
          <a:solidFill>
            <a:srgbClr val="1A1520">
              <a:alpha val="50000"/>
            </a:srgbClr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611880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280160" y="35204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response</a:t>
            </a:r>
            <a:endParaRPr lang="en-US" sz="13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680" y="3611880"/>
            <a:ext cx="274320" cy="2286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5029200" y="3520440"/>
            <a:ext cx="3474720" cy="438912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3520" y="3611880"/>
            <a:ext cx="228600" cy="2286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669280" y="35204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300" dirty="0"/>
          </a:p>
        </p:txBody>
      </p:sp>
      <p:sp>
        <p:nvSpPr>
          <p:cNvPr id="35" name="Shape 21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36" name="Text 22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becomes data-driven instead of visit-driven.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Operating Model Changes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ESA creates a new workflow: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72768"/>
            <a:ext cx="27432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880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606040" y="14630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8"/>
          <p:cNvSpPr/>
          <p:nvPr/>
        </p:nvSpPr>
        <p:spPr>
          <a:xfrm>
            <a:off x="26060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572768"/>
            <a:ext cx="27432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194560" y="219456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2377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286000" y="2880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2"/>
          <p:cNvSpPr/>
          <p:nvPr/>
        </p:nvSpPr>
        <p:spPr>
          <a:xfrm>
            <a:off x="4343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572768"/>
            <a:ext cx="274320" cy="228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931920" y="219456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237744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023360" y="2880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6080760" y="14630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16"/>
          <p:cNvSpPr/>
          <p:nvPr/>
        </p:nvSpPr>
        <p:spPr>
          <a:xfrm>
            <a:off x="6080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1572768"/>
            <a:ext cx="274320" cy="228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669280" y="219456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2377440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760720" y="2880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7818120" y="14630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0"/>
          <p:cNvSpPr/>
          <p:nvPr/>
        </p:nvSpPr>
        <p:spPr>
          <a:xfrm>
            <a:off x="7818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1"/>
          <p:cNvSpPr/>
          <p:nvPr/>
        </p:nvSpPr>
        <p:spPr>
          <a:xfrm>
            <a:off x="7406640" y="2194560"/>
            <a:ext cx="1371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272" y="2377440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498080" y="2880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learning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inspecting everything, operators intervene where needed.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on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typically see improvements in: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417320" cy="210312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94560" y="1463040"/>
            <a:ext cx="1417320" cy="210312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0" y="16916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8013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fault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931920" y="1463040"/>
            <a:ext cx="1417320" cy="210312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8013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2336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0" y="1463040"/>
            <a:ext cx="1417320" cy="210312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35040" y="16916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80136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6072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life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406640" y="1463040"/>
            <a:ext cx="1417320" cy="210312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0" y="16916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180136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640080" y="397764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3977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change is operational predictability.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on Field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383280" cy="4114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inspection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7373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20640" y="109728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097280"/>
            <a:ext cx="33832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maintenance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unnecessary site visits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0332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prioritisation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safety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20624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6636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 of real problems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Across Networks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deployed, ESA can scale across: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28600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2423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463040"/>
            <a:ext cx="2560320" cy="228600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3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assets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09360" y="1463040"/>
            <a:ext cx="2560320" cy="2286000"/>
          </a:xfrm>
          <a:prstGeom prst="rect">
            <a:avLst/>
          </a:prstGeom>
          <a:solidFill>
            <a:srgbClr val="132D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0936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</a:t>
            </a:r>
            <a:endParaRPr lang="en-US" sz="3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423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dispersed networks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electrical infrastructure — scaling requires minimal field work.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with Modern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integrates with existing operational systems: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475488" cy="47548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4708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systems (VFDs)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variable frequency drives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63040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1737360"/>
            <a:ext cx="475488" cy="47548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84708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management systems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235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CMMS and EAM platforms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88036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2880360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154680"/>
            <a:ext cx="475488" cy="47548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26440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programs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0876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RCM and condition-based strategies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288036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880360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Shape 20"/>
          <p:cNvSpPr/>
          <p:nvPr/>
        </p:nvSpPr>
        <p:spPr>
          <a:xfrm>
            <a:off x="4983480" y="3154680"/>
            <a:ext cx="475488" cy="475488"/>
          </a:xfrm>
          <a:prstGeom prst="ellipse">
            <a:avLst/>
          </a:prstGeom>
          <a:solidFill>
            <a:srgbClr val="0891B2">
              <a:alpha val="88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264408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analytics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62356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dashboards and data platforms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electrical infrastructure into a monitoring layer.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Strategic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large-scale ESA deployment provides: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30352"/>
          </a:xfrm>
          <a:prstGeom prst="rect">
            <a:avLst/>
          </a:prstGeom>
          <a:solidFill>
            <a:srgbClr val="132D4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49961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9105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41732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asset data layer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103120"/>
            <a:ext cx="7863840" cy="530352"/>
          </a:xfrm>
          <a:prstGeom prst="rect">
            <a:avLst/>
          </a:prstGeom>
          <a:solidFill>
            <a:srgbClr val="132D46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103120"/>
            <a:ext cx="64008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18541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7685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10312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operational intelligence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2788920"/>
            <a:ext cx="7863840" cy="530352"/>
          </a:xfrm>
          <a:prstGeom prst="rect">
            <a:avLst/>
          </a:prstGeom>
          <a:solidFill>
            <a:srgbClr val="132D46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2788920"/>
            <a:ext cx="64008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287121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6265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78892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predictive maintenance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3474720"/>
            <a:ext cx="7863840" cy="530352"/>
          </a:xfrm>
          <a:prstGeom prst="rect">
            <a:avLst/>
          </a:prstGeom>
          <a:solidFill>
            <a:srgbClr val="132D4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3474720"/>
            <a:ext cx="64008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" y="355701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4845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347472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regulatory compliance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" y="4160520"/>
            <a:ext cx="7863840" cy="530352"/>
          </a:xfrm>
          <a:prstGeom prst="rect">
            <a:avLst/>
          </a:prstGeom>
          <a:solidFill>
            <a:srgbClr val="132D46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4160520"/>
            <a:ext cx="64008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1"/>
          <p:cNvSpPr/>
          <p:nvPr/>
        </p:nvSpPr>
        <p:spPr>
          <a:xfrm>
            <a:off x="914400" y="424281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342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08760" y="416052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resilience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smart industrial system depends 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0" y="146304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91640"/>
            <a:ext cx="45720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319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2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691640"/>
            <a:ext cx="45720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766560" y="146304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4592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922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2000" dirty="0"/>
          </a:p>
        </p:txBody>
      </p:sp>
      <p:sp>
        <p:nvSpPr>
          <p:cNvPr id="15" name="Shape 8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640080" y="32461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0"/>
          <p:cNvSpPr/>
          <p:nvPr/>
        </p:nvSpPr>
        <p:spPr>
          <a:xfrm>
            <a:off x="1005840" y="32461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enables this cycle to start directly at the machine,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electrical signal already present.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Samotics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Reactive Operations to Predictive Asset Intelligence</dc:title>
  <dc:subject>PptxGenJS Presentation</dc:subject>
  <dc:creator>Samotics</dc:creator>
  <cp:lastModifiedBy>Samotics</cp:lastModifiedBy>
  <cp:revision>1</cp:revision>
  <dcterms:created xsi:type="dcterms:W3CDTF">2026-03-04T17:15:47Z</dcterms:created>
  <dcterms:modified xsi:type="dcterms:W3CDTF">2026-03-04T17:15:47Z</dcterms:modified>
</cp:coreProperties>
</file>